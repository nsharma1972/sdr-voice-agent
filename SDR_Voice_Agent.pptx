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SDR Voice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8C8E8"/>
                </a:solidFill>
              </a:rPr>
              <a:t>Signal-triggered AI outbound calls — qualify leads while you sleep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383280"/>
            <a:ext cx="3959352" cy="54864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40" y="3749039"/>
            <a:ext cx="1463040" cy="4114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37673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B9BF4"/>
                </a:solidFill>
              </a:rPr>
              <a:t>LiveKit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3749039"/>
            <a:ext cx="1463040" cy="4114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37673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B9BF4"/>
                </a:solidFill>
              </a:rPr>
              <a:t>Groq LLM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3749039"/>
            <a:ext cx="1463040" cy="4114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59" y="37673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B9BF4"/>
                </a:solidFill>
              </a:rPr>
              <a:t>Deepgram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3749039"/>
            <a:ext cx="1463040" cy="4114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37673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B9BF4"/>
                </a:solidFill>
              </a:rPr>
              <a:t>Free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688"/>
                </a:solidFill>
              </a:rPr>
              <a:t>Hackathon MVP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5486400" cy="128016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161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9BF4"/>
                </a:solidFill>
              </a:rPr>
              <a:t>🧊  Cold outreach is broken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&lt; 2 % connect rate on cold calls.
SDRs spend 6+ hours/day dialling to book 1 meeting.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5486400" cy="128016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2491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9BF4"/>
                </a:solidFill>
              </a:rPr>
              <a:t>💸  Human SDRs are expensive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$60K – $90K fully-loaded cost per rep.
High churn. Inconsistent messaging.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60520"/>
            <a:ext cx="5486400" cy="128016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336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B9BF4"/>
                </a:solidFill>
              </a:rPr>
              <a:t>⏰  Signals go stale fast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1772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A funding round or regulatory filing is hot for 48 hours.
Manual teams can't react in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143000"/>
            <a:ext cx="5029200" cy="128016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21615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DD68C"/>
                </a:solidFill>
              </a:rPr>
              <a:t>&lt; 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134416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C8E8"/>
                </a:solidFill>
              </a:rPr>
              <a:t>average cold-call
connect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651760"/>
            <a:ext cx="5029200" cy="128016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72491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DD68C"/>
                </a:solidFill>
              </a:rPr>
              <a:t>$80K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85292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C8E8"/>
                </a:solidFill>
              </a:rPr>
              <a:t>fully-loaded cost
per SDR/year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4160520"/>
            <a:ext cx="5029200" cy="128016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23367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DD68C"/>
                </a:solidFill>
              </a:rPr>
              <a:t>48 hrs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36168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C8E8"/>
                </a:solidFill>
              </a:rPr>
              <a:t>before a trigger
signal goes stale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88"/>
                </a:solidFill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8C8E8"/>
                </a:solidFill>
              </a:rPr>
              <a:t>An AI SDR that detects intent signals, calls prospects automatically,
and books meetings — without asking for an email.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5394960" cy="16002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09728" cy="1600200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9BF4"/>
                </a:solidFill>
              </a:rPr>
              <a:t>Signal-Triggered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Monitors regulatory filings, funding rounds, hiring signals &amp; press releases. Calls within minutes of detection.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965960"/>
            <a:ext cx="5394960" cy="16002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1965960"/>
            <a:ext cx="109728" cy="160020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057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D68C"/>
                </a:solidFill>
              </a:rPr>
              <a:t>Conversational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4688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Groq LLM (llama-3.1-8b-instant) drives natural single-sentence turns. Strict 12-word rule keeps calls tight.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94760"/>
            <a:ext cx="5394960" cy="16002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109728" cy="1600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Zero-friction Booking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Prospect details are on file. When they agree to meet, the invite goes out immediately — no email ask.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794760"/>
            <a:ext cx="5394960" cy="16002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3794760"/>
            <a:ext cx="109728" cy="1600200"/>
          </a:xfrm>
          <a:prstGeom prst="rect">
            <a:avLst/>
          </a:prstGeom>
          <a:solidFill>
            <a:srgbClr val="E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3886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5080"/>
                </a:solidFill>
              </a:rPr>
              <a:t>Free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2976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LiveKit · Groq · Deepgram · SQLite. $0/month for hackathon scale. Swappable to paid tiers for production.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88"/>
                </a:solidFill>
              </a:rPr>
              <a:t>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920240" cy="13716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920240" cy="73152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B9BF4"/>
                </a:solidFill>
              </a:rPr>
              <a:t>LiveKit
WebRTC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8E8"/>
                </a:solidFill>
              </a:rPr>
              <a:t>Browser transport
audio in/out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1645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5668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143000"/>
            <a:ext cx="1920240" cy="13716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80" y="1143000"/>
            <a:ext cx="1920240" cy="73152"/>
          </a:xfrm>
          <a:prstGeom prst="rect">
            <a:avLst/>
          </a:prstGeom>
          <a:solidFill>
            <a:srgbClr val="9B5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12344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B59F4"/>
                </a:solidFill>
              </a:rPr>
              <a:t>Deepgram
STT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75564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8E8"/>
                </a:solidFill>
              </a:rPr>
              <a:t>nova-2 model
100 ms endpointing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645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5668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143000"/>
            <a:ext cx="1920240" cy="13716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143000"/>
            <a:ext cx="192024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12344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</a:rPr>
              <a:t>Groq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75564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8E8"/>
                </a:solidFill>
              </a:rPr>
              <a:t>llama-3.1-8b-instant
~200 ms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1645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5668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1143000"/>
            <a:ext cx="1920240" cy="13716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78040" y="1143000"/>
            <a:ext cx="1920240" cy="73152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51192" y="12344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DD68C"/>
                </a:solidFill>
              </a:rPr>
              <a:t>Deepgram
TTS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175564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8E8"/>
                </a:solidFill>
              </a:rPr>
              <a:t>Aura-Asteria
streaming audio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1645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56688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143000"/>
            <a:ext cx="1920240" cy="13716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18320" y="1143000"/>
            <a:ext cx="1920240" cy="73152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91472" y="123444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B9BF4"/>
                </a:solidFill>
              </a:rPr>
              <a:t>LiveKit
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1755648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8E8"/>
                </a:solidFill>
              </a:rPr>
              <a:t>Audio delivered
to browser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2788920"/>
            <a:ext cx="6702552" cy="11887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0" y="2788920"/>
            <a:ext cx="6702552" cy="73152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28803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D68C"/>
                </a:solidFill>
              </a:rPr>
              <a:t>SDRTurnPolicy  (FrameProcessor)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327355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_check_agreement()  ·  _call_llm()  ·  _detect_outcome()  ·  flush_transcript()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354787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688"/>
                </a:solidFill>
              </a:rPr>
              <a:t>asyncio.Lock prevents concurrent turns  ·  httpx client reused  ·  Groq warmup on start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251960"/>
            <a:ext cx="1828800" cy="12344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31596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9BF4"/>
                </a:solidFill>
              </a:rPr>
              <a:t>Signal DB
(SQLite)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54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8E8"/>
                </a:solidFill>
              </a:rPr>
              <a:t>Regulatory / hiring
signals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4251960"/>
            <a:ext cx="1828800" cy="12344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71800" y="431596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9BF4"/>
                </a:solidFill>
              </a:rPr>
              <a:t>Call DB
(SQLite)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4754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8E8"/>
                </a:solidFill>
              </a:rPr>
              <a:t>Transcript + outcome
+ booking status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4251960"/>
            <a:ext cx="1828800" cy="12344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40680" y="431596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9BF4"/>
                </a:solidFill>
              </a:rPr>
              <a:t>Portal
(FastAPI)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4754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8E8"/>
                </a:solidFill>
              </a:rPr>
              <a:t>Review UI + notes
+ outcome tags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63840" y="4251960"/>
            <a:ext cx="1828800" cy="12344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9560" y="431596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9BF4"/>
                </a:solidFill>
              </a:rPr>
              <a:t>Cal.com
(optional)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9560" y="4754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8E8"/>
                </a:solidFill>
              </a:rPr>
              <a:t>Calendar invite
when booked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49840" y="4251960"/>
            <a:ext cx="1828800" cy="12344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95560" y="431596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9BF4"/>
                </a:solidFill>
              </a:rPr>
              <a:t>Resend
(optional)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5560" y="475488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8C8E8"/>
                </a:solidFill>
              </a:rPr>
              <a:t>Follow-up email
after call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88"/>
                </a:solidFill>
              </a:rPr>
              <a:t>Architecture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a Call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502920" cy="749808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0F1A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143000"/>
            <a:ext cx="10607040" cy="749808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17957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9BF4"/>
                </a:solidFill>
              </a:rPr>
              <a:t>1  Signal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90472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System monitors SEC filings, Crunchbase, job boards &amp; press.
Prospect scored — if above threshold, queued for a call.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75688"/>
            <a:ext cx="502920" cy="749808"/>
          </a:xfrm>
          <a:prstGeom prst="rect">
            <a:avLst/>
          </a:prstGeom>
          <a:solidFill>
            <a:srgbClr val="9B5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854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0F1A"/>
                </a:solidFill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075688"/>
            <a:ext cx="10607040" cy="749808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1122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F4"/>
                </a:solidFill>
              </a:rPr>
              <a:t>2  Room Created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23160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FastAPI mints a LiveKit JWT token and opens a WebRTC room.
Browser joins — pipeline spins up with STT + LLM + TTS.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08376"/>
            <a:ext cx="502920" cy="749808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181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0F1A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008376"/>
            <a:ext cx="10607040" cy="749808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0449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D68C"/>
                </a:solidFill>
              </a:rPr>
              <a:t>3  AI Opens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55848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"Hi Alex, calling about Rippling's recent funding round — got 60 seconds?"
Groq connection pre-warmed so first response is &lt;250 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41064"/>
            <a:ext cx="502920" cy="7498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0507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0F1A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3941064"/>
            <a:ext cx="10607040" cy="749808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9776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4  Turn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288536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Deepgram fires final transcript → SDRTurnPolicy → Groq → Deepgram TTS.
Bot-speaking gate blocks echo. Lock prevents concurrent turns.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73752"/>
            <a:ext cx="502920" cy="749808"/>
          </a:xfrm>
          <a:prstGeom prst="rect">
            <a:avLst/>
          </a:prstGeom>
          <a:solidFill>
            <a:srgbClr val="E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83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0F1A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4873752"/>
            <a:ext cx="10607040" cy="749808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49103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5080"/>
                </a:solidFill>
              </a:rPr>
              <a:t>5  Booking /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221224"/>
            <a:ext cx="10241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Agent asks for 15-min meeting. On "yes" → sends calendar invite immediately.
No email ask — details already on file. Outcome flushed to DB.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88"/>
                </a:solidFill>
              </a:rPr>
              <a:t>Call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Response Latency  (measured, not estimated)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688"/>
                </a:solidFill>
              </a:rPr>
              <a:t>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1097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556688"/>
                </a:solidFill>
              </a:rPr>
              <a:t>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C8E8"/>
                </a:solidFill>
              </a:rPr>
              <a:t>STT endpointing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673352"/>
            <a:ext cx="2438400" cy="502920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456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9BF4"/>
                </a:solidFill>
              </a:rPr>
              <a:t>100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C8E8"/>
                </a:solidFill>
              </a:rPr>
              <a:t>Groq LLM (warmed)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542032"/>
            <a:ext cx="5242560" cy="50292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872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D68C"/>
                </a:solidFill>
              </a:rPr>
              <a:t>215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C8E8"/>
                </a:solidFill>
              </a:rPr>
              <a:t>Deepgram TTS TTFB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410712"/>
            <a:ext cx="731520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300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8C8E8"/>
                </a:solidFill>
              </a:rPr>
              <a:t>Pipeline frame overhead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4279392"/>
            <a:ext cx="1219200" cy="502920"/>
          </a:xfrm>
          <a:prstGeom prst="rect">
            <a:avLst/>
          </a:prstGeom>
          <a:solidFill>
            <a:srgbClr val="55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85360" y="4343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56688"/>
                </a:solidFill>
              </a:rPr>
              <a:t>50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5074920"/>
            <a:ext cx="7315200" cy="36576"/>
          </a:xfrm>
          <a:prstGeom prst="rect">
            <a:avLst/>
          </a:prstGeom>
          <a:solidFill>
            <a:srgbClr val="55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Total felt latency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5138928"/>
            <a:ext cx="16215360" cy="5486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781520" y="51846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D68C"/>
                </a:solidFill>
              </a:rPr>
              <a:t>~665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88"/>
                </a:solidFill>
              </a:rPr>
              <a:t>* First call adds ~800 ms (Groq TCP cold start) — eliminated by connection warmup on pipeline start.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88"/>
                </a:solidFill>
              </a:rPr>
              <a:t>Latency Profile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Product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743200" cy="50749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743200" cy="73152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88720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D68C"/>
                </a:solidFill>
              </a:rPr>
              <a:t>v1  Hackathon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2763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688"/>
                </a:solidFill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084831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Browser WebRTC via LiveKit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834639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Groq LLM + Deepgram STT/TTS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58444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Signal-triggered opener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4334256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Call review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508406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Zero-email booking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1097280"/>
            <a:ext cx="2743200" cy="50749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097280"/>
            <a:ext cx="2743200" cy="73152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188720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9BF4"/>
                </a:solidFill>
              </a:rPr>
              <a:t>v2  Outbound Phone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162763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688"/>
                </a:solidFill>
              </a:rPr>
              <a:t>Q3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084831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Twilio / Vapi outbound PSTN 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2834639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Call window scheduling (8 AM–9 PM)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358444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Max 2 attempts per prospect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19856" y="4334256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Voicemail drop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9856" y="508406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Live dashboard &amp; queue management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1097280"/>
            <a:ext cx="2743200" cy="50749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1097280"/>
            <a:ext cx="27432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1188720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v3 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162763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688"/>
                </a:solidFill>
              </a:rPr>
              <a:t>Q4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2084831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Cal.com auto-invite on booking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2834639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Resend email follow-up sequence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358444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Multi-signal scoring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4334256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Prospect enrichment (LinkedIn, Clay)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508406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A/B opener testing framework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98864" y="1097280"/>
            <a:ext cx="2743200" cy="50749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98864" y="1097280"/>
            <a:ext cx="2743200" cy="73152"/>
          </a:xfrm>
          <a:prstGeom prst="rect">
            <a:avLst/>
          </a:prstGeom>
          <a:solidFill>
            <a:srgbClr val="E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08592" y="1188720"/>
            <a:ext cx="25237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05080"/>
                </a:solidFill>
              </a:rPr>
              <a:t>v4 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162763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688"/>
                </a:solidFill>
              </a:rPr>
              <a:t>Q1 2027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2084831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CRM sync (Salesforce / HubSpot)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2834639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Multi-language voices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358444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Whisper-based local STT fallback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8592" y="4334256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Concurrency: 50+ parallel calls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508406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8E8"/>
                </a:solidFill>
              </a:rPr>
              <a:t>• SOC 2 compliance + audit 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88"/>
                </a:solidFill>
              </a:rPr>
              <a:t>Roadmap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 Stack  —  Entirely Free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688"/>
                </a:solidFill>
              </a:rPr>
              <a:t>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097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688"/>
                </a:solidFill>
              </a:rPr>
              <a:t>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972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6688"/>
                </a:solidFill>
              </a:rPr>
              <a:t>Details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11274552" cy="475488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3677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88"/>
                </a:solidFill>
              </a:rPr>
              <a:t>Transport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63677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9BF4"/>
                </a:solidFill>
              </a:rPr>
              <a:t>LiveKit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63677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Free cloud tier · WebRTC browser SDK · JWT auth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11274552" cy="475488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16712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88"/>
                </a:solidFill>
              </a:rPr>
              <a:t>STT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167127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9BF4"/>
                </a:solidFill>
              </a:rPr>
              <a:t>Deepgram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67127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nova-2 · 12K minutes/year free · 100 ms endpointing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33472"/>
            <a:ext cx="11274552" cy="475488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97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88"/>
                </a:solidFill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6974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9BF4"/>
                </a:solidFill>
              </a:rPr>
              <a:t>Groq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69747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llama-3.1-8b-instant · ~200 ms · free tier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63824"/>
            <a:ext cx="11274552" cy="475488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278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88"/>
                </a:solidFill>
              </a:rPr>
              <a:t>TTS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2278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9BF4"/>
                </a:solidFill>
              </a:rPr>
              <a:t>Deepgram Aura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22783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aura-asteria-en · streaming · same free quota as STT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94176"/>
            <a:ext cx="11274552" cy="475488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581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88"/>
                </a:solidFill>
              </a:rP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75818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9BF4"/>
                </a:solidFill>
              </a:rPr>
              <a:t>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75818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Python 3.12 · Uvicorn · async throughout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24528"/>
            <a:ext cx="11274552" cy="475488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2885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88"/>
                </a:solidFill>
              </a:rPr>
              <a:t>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28853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9BF4"/>
                </a:solidFill>
              </a:rPr>
              <a:t>SQLite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28853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aiosqlite · zero ops · swappable to Postgres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54879"/>
            <a:ext cx="11274552" cy="475488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8188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88"/>
                </a:solidFill>
              </a:rPr>
              <a:t>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81888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9BF4"/>
                </a:solidFill>
              </a:rPr>
              <a:t>Pipecat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81888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FrameProcessor graph · VAD via Silero · asyncio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285231"/>
            <a:ext cx="11274552" cy="475488"/>
          </a:xfrm>
          <a:prstGeom prst="rect">
            <a:avLst/>
          </a:prstGeom>
          <a:solidFill>
            <a:srgbClr val="0D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688"/>
                </a:solidFill>
              </a:rPr>
              <a:t>Hosting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5349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9BF4"/>
                </a:solidFill>
              </a:rPr>
              <a:t>localhost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53492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Hackathon demo — CapRover / Railway for production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688"/>
                </a:solidFill>
              </a:rPr>
              <a:t>Stack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5212080" cy="16916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91440" cy="169164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299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DD68C"/>
                </a:solidFill>
              </a:rPr>
              <a:t>Outbound 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50592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Wire Twilio / Vapi for real PSTN outbound calls
to prospect mobile numbers.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920240"/>
            <a:ext cx="5212080" cy="16916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920240"/>
            <a:ext cx="91440" cy="1691640"/>
          </a:xfrm>
          <a:prstGeom prst="rect">
            <a:avLst/>
          </a:prstGeom>
          <a:solidFill>
            <a:srgbClr val="5B9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299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9BF4"/>
                </a:solidFill>
              </a:rPr>
              <a:t>Calendar Booking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450592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Auto-send Cal.com invite the moment prospect
agrees — zero manual follow-up.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212080" cy="16916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91440" cy="1691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0416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Signal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62272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Expand beyond SEC/hiring to LinkedIn activity,
G2 reviews, intent data providers.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931920"/>
            <a:ext cx="5212080" cy="16916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931920"/>
            <a:ext cx="91440" cy="1691640"/>
          </a:xfrm>
          <a:prstGeom prst="rect">
            <a:avLst/>
          </a:prstGeom>
          <a:solidFill>
            <a:srgbClr val="E0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0416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05080"/>
                </a:solidFill>
              </a:rPr>
              <a:t>CRM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462272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E8"/>
                </a:solidFill>
              </a:rPr>
              <a:t>Push booked meetings + transcript directly into
Salesforce or HubSpot deals.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6688"/>
                </a:solidFill>
              </a:rPr>
              <a:t>github.com/nsharma1972/sdr-voice-agent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